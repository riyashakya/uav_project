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Adaptive auction</c:v>
                </c:pt>
              </c:strCache>
            </c:strRef>
          </c:tx>
          <c:spPr>
            <a:solidFill>
              <a:srgbClr val="02C39A"/>
            </a:solidFill>
          </c:spPr>
          <c:cat>
            <c:strRef>
              <c:f>Sheet1!$A$2:$A$4</c:f>
              <c:strCache>
                <c:ptCount val="3"/>
                <c:pt idx="0">
                  <c:v>No failure</c:v>
                </c:pt>
                <c:pt idx="1">
                  <c:v>One fails</c:v>
                </c:pt>
                <c:pt idx="2">
                  <c:v>Two fail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Static partition</c:v>
                </c:pt>
              </c:strCache>
            </c:strRef>
          </c:tx>
          <c:spPr>
            <a:solidFill>
              <a:srgbClr val="8E9BA4"/>
            </a:solidFill>
          </c:spPr>
          <c:cat>
            <c:strRef>
              <c:f>Sheet1!$A$2:$A$4</c:f>
              <c:strCache>
                <c:ptCount val="3"/>
                <c:pt idx="0">
                  <c:v>No failure</c:v>
                </c:pt>
                <c:pt idx="1">
                  <c:v>One fails</c:v>
                </c:pt>
                <c:pt idx="2">
                  <c:v>Two fail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87.6</c:v>
                </c:pt>
                <c:pt idx="2">
                  <c:v>74.5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solidFill>
                    <a:srgbClr val="0E22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E22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Multi-UAV AI Framework for Disaster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2C39A"/>
                </a:solidFill>
                <a:latin typeface="Calibri"/>
              </a:rPr>
              <a:t>Progress Report  ·  MSc dissertation (LSBU)  ·  Simulation-based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EAF1F4"/>
                </a:solidFill>
                <a:latin typeface="Calibri"/>
              </a:rPr>
              <a:t>Coordinating a team of drones to search a flooded disaster area efficiently — and guide rescue.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48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HOW IT WORKS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6032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E2233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514600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See  </a:t>
            </a:r>
            <a:r>
              <a:rPr sz="1250" b="0" i="0">
                <a:solidFill>
                  <a:srgbClr val="EAF1F4"/>
                </a:solidFill>
                <a:latin typeface="Calibri"/>
              </a:rPr>
              <a:t>YOLO detects survivors, vehicles, flood water, blocked roads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218687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E2233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172968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Divide  </a:t>
            </a:r>
            <a:r>
              <a:rPr sz="1250" b="0" i="0">
                <a:solidFill>
                  <a:srgbClr val="EAF1F4"/>
                </a:solidFill>
                <a:latin typeface="Calibri"/>
              </a:rPr>
              <a:t>Split the area into workload-balanced drone sectors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877055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E2233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831335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Adapt  </a:t>
            </a:r>
            <a:r>
              <a:rPr sz="1250" b="0" i="0">
                <a:solidFill>
                  <a:srgbClr val="EAF1F4"/>
                </a:solidFill>
                <a:latin typeface="Calibri"/>
              </a:rPr>
              <a:t>Auction re-tasks drones when one fails or a survivor is found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535423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E2233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4489703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Predict  </a:t>
            </a:r>
            <a:r>
              <a:rPr sz="1250" b="0" i="0">
                <a:solidFill>
                  <a:srgbClr val="EAF1F4"/>
                </a:solidFill>
                <a:latin typeface="Calibri"/>
              </a:rPr>
              <a:t>Forecast where a flood survivor drifts (SAROPS-style)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193791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E2233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5148071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Route  </a:t>
            </a:r>
            <a:r>
              <a:rPr sz="1250" b="0" i="0">
                <a:solidFill>
                  <a:srgbClr val="EAF1F4"/>
                </a:solidFill>
                <a:latin typeface="Calibri"/>
              </a:rPr>
              <a:t>Safe rescue paths that avoid blocked / flooded roads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148840"/>
            <a:ext cx="5166360" cy="3977639"/>
          </a:xfrm>
          <a:prstGeom prst="roundRect">
            <a:avLst/>
          </a:prstGeom>
          <a:solidFill>
            <a:srgbClr val="17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3774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78892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EAF1F4"/>
                </a:solidFill>
                <a:latin typeface="Calibri"/>
              </a:rPr>
              <a:t>•  8 of 9 core phases complete (perception → drift)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EAF1F4"/>
                </a:solidFill>
                <a:latin typeface="Calibri"/>
              </a:rPr>
              <a:t>•  74 automated tests passing · reproducible (seeded)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EAF1F4"/>
                </a:solidFill>
                <a:latin typeface="Calibri"/>
              </a:rPr>
              <a:t>•  Data: VisDrone, SARD, RescueNet, FloodNet (post-hurricane flooding)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EAF1F4"/>
                </a:solidFill>
                <a:latin typeface="Calibri"/>
              </a:rPr>
              <a:t>•  Two YOLO11 models: detection + segmentation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EAF1F4"/>
                </a:solidFill>
                <a:latin typeface="Calibri"/>
              </a:rPr>
              <a:t>•  Perception &amp; coordination decoupled — real data + CPU Monte-Carlo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EAF1F4"/>
                </a:solidFill>
                <a:latin typeface="Calibri"/>
              </a:rPr>
              <a:t>•  Remaining: hazard-aware routing (Phase 8) + write-up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E2233"/>
                </a:solidFill>
                <a:latin typeface="Cambria"/>
              </a:rPr>
              <a:t>Results &amp;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065A82"/>
                </a:solidFill>
                <a:latin typeface="Cambria"/>
              </a:rPr>
              <a:t>0.674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4708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76"/>
                </a:solidFill>
                <a:latin typeface="Calibri"/>
              </a:rPr>
              <a:t>mAP@50 — survivor &amp; vehicle detection (Model 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0972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02C39A"/>
                </a:solidFill>
                <a:latin typeface="Cambria"/>
              </a:rPr>
              <a:t>+25.5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84708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76"/>
                </a:solidFill>
                <a:latin typeface="Calibri"/>
              </a:rPr>
              <a:t>coverage vs static partitioning (two UAV failures)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0972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1C7293"/>
                </a:solidFill>
                <a:latin typeface="Cambria"/>
              </a:rPr>
              <a:t>1,800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4708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76"/>
                </a:solidFill>
                <a:latin typeface="Calibri"/>
              </a:rPr>
              <a:t>Monte-Carlo runs · reported mean ± 95%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2233"/>
                </a:solidFill>
                <a:latin typeface="Calibri"/>
              </a:rPr>
              <a:t>Area coverage under UAV failure (6 UAVs)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2880360"/>
          <a:ext cx="5943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Oval 11"/>
          <p:cNvSpPr/>
          <p:nvPr/>
        </p:nvSpPr>
        <p:spPr>
          <a:xfrm>
            <a:off x="6720840" y="2752344"/>
            <a:ext cx="201168" cy="20116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651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2233"/>
                </a:solidFill>
                <a:latin typeface="Calibri"/>
              </a:rPr>
              <a:t>The contribution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0175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76"/>
                </a:solidFill>
                <a:latin typeface="Calibri"/>
              </a:rPr>
              <a:t>Adaptive auction reallocation (Contract Net) beats static partitioning under failure — proven over 1,800 seeds with confidence intervals.</a:t>
            </a:r>
          </a:p>
        </p:txBody>
      </p:sp>
      <p:sp>
        <p:nvSpPr>
          <p:cNvPr id="15" name="Oval 14"/>
          <p:cNvSpPr/>
          <p:nvPr/>
        </p:nvSpPr>
        <p:spPr>
          <a:xfrm>
            <a:off x="6720840" y="3959352"/>
            <a:ext cx="201168" cy="20116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8587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2233"/>
                </a:solidFill>
                <a:latin typeface="Calibri"/>
              </a:rPr>
              <a:t>The novelty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224528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76"/>
                </a:solidFill>
                <a:latin typeface="Calibri"/>
              </a:rPr>
              <a:t>Survivor-drift prediction adapted from maritime SAR (SAROPS) → drift-driven UAV re-tasking. Perception → prediction → coordination in one loop.</a:t>
            </a:r>
          </a:p>
        </p:txBody>
      </p:sp>
      <p:sp>
        <p:nvSpPr>
          <p:cNvPr id="18" name="Oval 17"/>
          <p:cNvSpPr/>
          <p:nvPr/>
        </p:nvSpPr>
        <p:spPr>
          <a:xfrm>
            <a:off x="6720840" y="5166360"/>
            <a:ext cx="201168" cy="20116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50657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2233"/>
                </a:solidFill>
                <a:latin typeface="Calibri"/>
              </a:rPr>
              <a:t>What's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5431536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76"/>
                </a:solidFill>
                <a:latin typeface="Calibri"/>
              </a:rPr>
              <a:t>Hazard-weighted rescue routing (Phase 8, distance-vs-safety) · wire drift into the auction · dissertation write-up.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